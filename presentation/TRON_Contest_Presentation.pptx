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1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486400" cy="54864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5120640"/>
            <a:ext cx="3840480" cy="3840480"/>
          </a:xfrm>
          <a:prstGeom prst="ellipse">
            <a:avLst/>
          </a:prstGeom>
          <a:solidFill>
            <a:srgbClr val="20335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 PROGRAMMING CONTEST 2026   ·   DEVELOPMENT ENVIRONMENT / DEVELOPMENT TOOL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Disaster Communication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Priority Handling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Priority-driven emergency alerting for real-time embedded systems, built on μT-Kernel 3.0 and the Renesas EK-RA8P1.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434840"/>
            <a:ext cx="566928" cy="566928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8" name="Image 0" descr="/home/claude/pptx/icons/mobile_F2A9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4570903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5074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362456" y="4645152"/>
            <a:ext cx="108813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1" name="Shape 8"/>
          <p:cNvSpPr/>
          <p:nvPr/>
        </p:nvSpPr>
        <p:spPr>
          <a:xfrm>
            <a:off x="2560320" y="4434840"/>
            <a:ext cx="566928" cy="566928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12" name="Image 1" descr="/home/claude/pptx/icons/server_F2A9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6383" y="457090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240280" y="5074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36976" y="4645152"/>
            <a:ext cx="108813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5" name="Shape 11"/>
          <p:cNvSpPr/>
          <p:nvPr/>
        </p:nvSpPr>
        <p:spPr>
          <a:xfrm>
            <a:off x="4434840" y="4434840"/>
            <a:ext cx="566928" cy="566928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16" name="Image 2" descr="/home/claude/pptx/icons/network_F2A9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903" y="45709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4800" y="5074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111496" y="4645152"/>
            <a:ext cx="108813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9" name="Shape 14"/>
          <p:cNvSpPr/>
          <p:nvPr/>
        </p:nvSpPr>
        <p:spPr>
          <a:xfrm>
            <a:off x="6309360" y="4434840"/>
            <a:ext cx="566928" cy="566928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20" name="Image 3" descr="/home/claude/pptx/icons/chip_F2A9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5423" y="45709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89320" y="5074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986016" y="4645152"/>
            <a:ext cx="108813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3" name="Shape 17"/>
          <p:cNvSpPr/>
          <p:nvPr/>
        </p:nvSpPr>
        <p:spPr>
          <a:xfrm>
            <a:off x="8183880" y="4434840"/>
            <a:ext cx="566928" cy="566928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24" name="Image 4" descr="/home/claude/pptx/icons/inbox_F2A90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943" y="4570903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863840" y="5074920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85800" y="6263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 3.0   |   Renesas EK-RA8P1   |   Local, Internet-Independent Pipeline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pptx/icons/bo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Disaster Reports Are Equal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fire report and a routine update should never wait in the same line.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127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reports arrive with mixed urgency — fire, medical, road blockage, or routine updates.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every message identically risks delaying the most critical alert behind less urgent ones.</a:t>
            </a:r>
            <a:endParaRPr lang="en-US" sz="1650" dirty="0"/>
          </a:p>
          <a:p>
            <a:pPr marL="342900" indent="-342900">
              <a:lnSpc>
                <a:spcPct val="125000"/>
              </a:lnSpc>
              <a:spcAft>
                <a:spcPts val="2000"/>
              </a:spcAft>
              <a:buSzPct val="100000"/>
              <a:buChar char="•"/>
            </a:pPr>
            <a:r>
              <a:rPr lang="en-US" sz="16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need deterministic, priority-aware dispatch, not simple first-in-first-out queues.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4251960"/>
            <a:ext cx="5212080" cy="1691640"/>
          </a:xfrm>
          <a:prstGeom prst="roundRect">
            <a:avLst>
              <a:gd name="adj" fmla="val 6486"/>
            </a:avLst>
          </a:prstGeom>
          <a:solidFill>
            <a:srgbClr val="FCEBEA"/>
          </a:solidFill>
          <a:ln/>
        </p:spPr>
      </p:sp>
      <p:sp>
        <p:nvSpPr>
          <p:cNvPr id="9" name="Shape 6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0" name="Image 1" descr="/home/claude/pptx/icons/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460126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434840"/>
            <a:ext cx="4160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without priority-aware dispatch, a FIRE report can sit behind routine messages in a simple queue — costing the seconds that matter most.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5577840" cy="4617720"/>
          </a:xfrm>
          <a:prstGeom prst="roundRect">
            <a:avLst>
              <a:gd name="adj" fmla="val 237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2A4A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6355080" y="16459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355080" y="193852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local, priority-aware disaster pipeline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6446520" y="2834640"/>
            <a:ext cx="566928" cy="566928"/>
          </a:xfrm>
          <a:prstGeom prst="ellipse">
            <a:avLst/>
          </a:prstGeom>
          <a:solidFill>
            <a:srgbClr val="F0F1F4"/>
          </a:solidFill>
          <a:ln w="12700">
            <a:solidFill>
              <a:srgbClr val="D8DCE4"/>
            </a:solidFill>
            <a:prstDash val="solid"/>
          </a:ln>
        </p:spPr>
      </p:sp>
      <p:pic>
        <p:nvPicPr>
          <p:cNvPr id="16" name="Image 2" descr="/home/claude/pptx/icons/mobile_1B2A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2583" y="297070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4564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7040880" y="3063240"/>
            <a:ext cx="31089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9" name="Shape 14"/>
          <p:cNvSpPr/>
          <p:nvPr/>
        </p:nvSpPr>
        <p:spPr>
          <a:xfrm>
            <a:off x="7379208" y="2834640"/>
            <a:ext cx="566928" cy="566928"/>
          </a:xfrm>
          <a:prstGeom prst="ellipse">
            <a:avLst/>
          </a:prstGeom>
          <a:solidFill>
            <a:srgbClr val="F0F1F4"/>
          </a:solidFill>
          <a:ln w="12700">
            <a:solidFill>
              <a:srgbClr val="D8DCE4"/>
            </a:solidFill>
            <a:prstDash val="solid"/>
          </a:ln>
        </p:spPr>
      </p:sp>
      <p:pic>
        <p:nvPicPr>
          <p:cNvPr id="20" name="Image 3" descr="/home/claude/pptx/icons/cogs_1B2A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271" y="2970703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50608" y="34564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7973568" y="3063240"/>
            <a:ext cx="31089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3" name="Shape 17"/>
          <p:cNvSpPr/>
          <p:nvPr/>
        </p:nvSpPr>
        <p:spPr>
          <a:xfrm>
            <a:off x="8311896" y="2834640"/>
            <a:ext cx="566928" cy="566928"/>
          </a:xfrm>
          <a:prstGeom prst="ellipse">
            <a:avLst/>
          </a:prstGeom>
          <a:solidFill>
            <a:srgbClr val="F0F1F4"/>
          </a:solidFill>
          <a:ln w="12700">
            <a:solidFill>
              <a:srgbClr val="D8DCE4"/>
            </a:solidFill>
            <a:prstDash val="solid"/>
          </a:ln>
        </p:spPr>
      </p:sp>
      <p:pic>
        <p:nvPicPr>
          <p:cNvPr id="24" name="Image 4" descr="/home/claude/pptx/icons/network_1B2A4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7959" y="2970703"/>
            <a:ext cx="294803" cy="29480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083296" y="34564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8906256" y="3063240"/>
            <a:ext cx="31089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7" name="Shape 20"/>
          <p:cNvSpPr/>
          <p:nvPr/>
        </p:nvSpPr>
        <p:spPr>
          <a:xfrm>
            <a:off x="9244584" y="2834640"/>
            <a:ext cx="566928" cy="566928"/>
          </a:xfrm>
          <a:prstGeom prst="ellipse">
            <a:avLst/>
          </a:prstGeom>
          <a:solidFill>
            <a:srgbClr val="F0F1F4"/>
          </a:solidFill>
          <a:ln w="12700">
            <a:solidFill>
              <a:srgbClr val="D8DCE4"/>
            </a:solidFill>
            <a:prstDash val="solid"/>
          </a:ln>
        </p:spPr>
      </p:sp>
      <p:pic>
        <p:nvPicPr>
          <p:cNvPr id="28" name="Image 5" descr="/home/claude/pptx/icons/chip_1B2A4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0647" y="2970703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015984" y="34564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Mailbox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9838944" y="3063240"/>
            <a:ext cx="310896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1" name="Shape 23"/>
          <p:cNvSpPr/>
          <p:nvPr/>
        </p:nvSpPr>
        <p:spPr>
          <a:xfrm>
            <a:off x="10177272" y="2834640"/>
            <a:ext cx="566928" cy="566928"/>
          </a:xfrm>
          <a:prstGeom prst="ellipse">
            <a:avLst/>
          </a:prstGeom>
          <a:solidFill>
            <a:srgbClr val="F0F1F4"/>
          </a:solidFill>
          <a:ln w="12700">
            <a:solidFill>
              <a:srgbClr val="D8DCE4"/>
            </a:solidFill>
            <a:prstDash val="solid"/>
          </a:ln>
        </p:spPr>
      </p:sp>
      <p:pic>
        <p:nvPicPr>
          <p:cNvPr id="32" name="Image 6" descr="/home/claude/pptx/icons/inbox_1B2A4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3335" y="2970703"/>
            <a:ext cx="294803" cy="29480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948672" y="3456432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6355080" y="4114800"/>
            <a:ext cx="4937760" cy="0"/>
          </a:xfrm>
          <a:prstGeom prst="line">
            <a:avLst/>
          </a:prstGeom>
          <a:noFill/>
          <a:ln w="12700">
            <a:solidFill>
              <a:srgbClr val="E2E5EA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355080" y="4297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free-text disaster report is classified, prioritized, and dispatched to μT-Kernel 3.0's priority mailbox on the EK-RA8P1 — entirely over a local network, with no cloud or Internet dependency.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pptx/icons/chi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components, one deterministic path from smartphone to real-time alert.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05740" y="205740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7" name="Image 1" descr="/home/claude/pptx/icons/mobi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9" y="2287829"/>
            <a:ext cx="499262" cy="4992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-274320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-274320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1220724" y="2464308"/>
            <a:ext cx="1094171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1" name="Shape 7"/>
          <p:cNvSpPr/>
          <p:nvPr/>
        </p:nvSpPr>
        <p:spPr>
          <a:xfrm>
            <a:off x="2369759" y="2057400"/>
            <a:ext cx="960120" cy="960120"/>
          </a:xfrm>
          <a:prstGeom prst="ellipse">
            <a:avLst/>
          </a:prstGeom>
          <a:solidFill>
            <a:srgbClr val="3A5480"/>
          </a:solidFill>
          <a:ln/>
        </p:spPr>
      </p:sp>
      <p:pic>
        <p:nvPicPr>
          <p:cNvPr id="12" name="Image 2" descr="/home/claude/pptx/icons/server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188" y="2287829"/>
            <a:ext cx="499262" cy="4992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889699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phone_server.py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889699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3384743" y="2464308"/>
            <a:ext cx="1094171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16" name="Shape 11"/>
          <p:cNvSpPr/>
          <p:nvPr/>
        </p:nvSpPr>
        <p:spPr>
          <a:xfrm>
            <a:off x="4533778" y="2057400"/>
            <a:ext cx="960120" cy="9601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home/claude/pptx/icons/cog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207" y="2287829"/>
            <a:ext cx="499262" cy="4992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053718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disaster_ai.py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053718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+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priority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548762" y="2464308"/>
            <a:ext cx="1094171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1" name="Shape 15"/>
          <p:cNvSpPr/>
          <p:nvPr/>
        </p:nvSpPr>
        <p:spPr>
          <a:xfrm>
            <a:off x="6697797" y="2057400"/>
            <a:ext cx="960120" cy="960120"/>
          </a:xfrm>
          <a:prstGeom prst="ellipse">
            <a:avLst/>
          </a:prstGeom>
          <a:solidFill>
            <a:srgbClr val="3A5480"/>
          </a:solidFill>
          <a:ln/>
        </p:spPr>
      </p:sp>
      <p:pic>
        <p:nvPicPr>
          <p:cNvPr id="22" name="Image 4" descr="/home/claude/pptx/icons/networ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8226" y="2287829"/>
            <a:ext cx="499262" cy="4992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737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/ RMAC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6217737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 frame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EK-RA8P1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7712781" y="2464308"/>
            <a:ext cx="1094171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26" name="Shape 19"/>
          <p:cNvSpPr/>
          <p:nvPr/>
        </p:nvSpPr>
        <p:spPr>
          <a:xfrm>
            <a:off x="8861816" y="2057400"/>
            <a:ext cx="960120" cy="9601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27" name="Image 5" descr="/home/claude/pptx/icons/chi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245" y="2287829"/>
            <a:ext cx="499262" cy="49926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81756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 3.0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8381756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mailbox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000" dirty="0"/>
          </a:p>
        </p:txBody>
      </p:sp>
      <p:sp>
        <p:nvSpPr>
          <p:cNvPr id="30" name="Shape 22"/>
          <p:cNvSpPr/>
          <p:nvPr/>
        </p:nvSpPr>
        <p:spPr>
          <a:xfrm>
            <a:off x="9876800" y="2464308"/>
            <a:ext cx="1094171" cy="146304"/>
          </a:xfrm>
          <a:prstGeom prst="rightArrow">
            <a:avLst/>
          </a:prstGeom>
          <a:solidFill>
            <a:srgbClr val="F2A900"/>
          </a:solidFill>
          <a:ln/>
        </p:spPr>
      </p:sp>
      <p:sp>
        <p:nvSpPr>
          <p:cNvPr id="31" name="Shape 23"/>
          <p:cNvSpPr/>
          <p:nvPr/>
        </p:nvSpPr>
        <p:spPr>
          <a:xfrm>
            <a:off x="11025835" y="2057400"/>
            <a:ext cx="960120" cy="960120"/>
          </a:xfrm>
          <a:prstGeom prst="ellipse">
            <a:avLst/>
          </a:prstGeom>
          <a:solidFill>
            <a:srgbClr val="3A5480"/>
          </a:solidFill>
          <a:ln/>
        </p:spPr>
      </p:sp>
      <p:pic>
        <p:nvPicPr>
          <p:cNvPr id="32" name="Image 6" descr="/home/claude/pptx/icons/terminal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56264" y="2287829"/>
            <a:ext cx="499262" cy="49926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545775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 Term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10545775" y="3474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0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85800" y="5074920"/>
            <a:ext cx="10817352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6" name="Text 27"/>
          <p:cNvSpPr/>
          <p:nvPr/>
        </p:nvSpPr>
        <p:spPr>
          <a:xfrm>
            <a:off x="960120" y="5074920"/>
            <a:ext cx="10287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PC-side (phone_server.py + disaster_ai.py) handles ingestion and classification. The EK-RA8P1 executes deterministic, real-time priority processing under μT-Kernel 3.0 — keeping the RTOS core free of any variable-latency decision logic.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3" name="Image 0" descr="/home/claude/pptx/icons/inbox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Mailbox: Real-Time Dispatch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 3.0 dispatches by urgency, not arrival order.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7" name="Image 1" descr="/home/claude/pptx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581912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2606040" y="1673352"/>
            <a:ext cx="2103120" cy="310896"/>
          </a:xfrm>
          <a:prstGeom prst="roundRect">
            <a:avLst>
              <a:gd name="adj" fmla="val 17647"/>
            </a:avLst>
          </a:prstGeom>
          <a:solidFill>
            <a:srgbClr val="C1272D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1581912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2" name="Image 2" descr="/home/claude/pptx/icons/ambu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55117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23160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2606040" y="2514600"/>
            <a:ext cx="1554480" cy="310896"/>
          </a:xfrm>
          <a:prstGeom prst="roundRect">
            <a:avLst>
              <a:gd name="adj" fmla="val 17647"/>
            </a:avLst>
          </a:prstGeom>
          <a:solidFill>
            <a:srgbClr val="F2A900"/>
          </a:solidFill>
          <a:ln/>
        </p:spPr>
      </p:sp>
      <p:sp>
        <p:nvSpPr>
          <p:cNvPr id="15" name="Text 10"/>
          <p:cNvSpPr/>
          <p:nvPr/>
        </p:nvSpPr>
        <p:spPr>
          <a:xfrm>
            <a:off x="4297680" y="2423160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7" name="Image 3" descr="/home/claude/pptx/icons/roa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9242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3264408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2606040" y="3355848"/>
            <a:ext cx="100584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  <a:ln/>
        </p:spPr>
      </p:sp>
      <p:sp>
        <p:nvSpPr>
          <p:cNvPr id="20" name="Text 14"/>
          <p:cNvSpPr/>
          <p:nvPr/>
        </p:nvSpPr>
        <p:spPr>
          <a:xfrm>
            <a:off x="3749040" y="3264408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8A92A3"/>
          </a:solidFill>
          <a:ln/>
        </p:spPr>
      </p:sp>
      <p:pic>
        <p:nvPicPr>
          <p:cNvPr id="22" name="Image 4" descr="/home/claude/pptx/icons/bel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233672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105656"/>
            <a:ext cx="1417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2606040" y="4197096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8A92A3"/>
          </a:solidFill>
          <a:ln/>
        </p:spPr>
      </p:sp>
      <p:sp>
        <p:nvSpPr>
          <p:cNvPr id="25" name="Text 18"/>
          <p:cNvSpPr/>
          <p:nvPr/>
        </p:nvSpPr>
        <p:spPr>
          <a:xfrm>
            <a:off x="3246120" y="4105656"/>
            <a:ext cx="1234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6263640" y="160020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1B2A4A"/>
          </a:solidFill>
          <a:ln/>
        </p:spPr>
      </p:sp>
      <p:sp>
        <p:nvSpPr>
          <p:cNvPr id="27" name="Text 20"/>
          <p:cNvSpPr/>
          <p:nvPr/>
        </p:nvSpPr>
        <p:spPr>
          <a:xfrm>
            <a:off x="658368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IN ACTION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583680" y="228600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27406B"/>
          </a:solidFill>
          <a:ln/>
        </p:spPr>
      </p:sp>
      <p:sp>
        <p:nvSpPr>
          <p:cNvPr id="29" name="Text 22"/>
          <p:cNvSpPr/>
          <p:nvPr/>
        </p:nvSpPr>
        <p:spPr>
          <a:xfrm>
            <a:off x="6766560" y="228600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submitted 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“Community meeting scheduled for tomorrow.”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6766560" y="2889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92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· Priority 4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583680" y="324612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followed by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583680" y="3566160"/>
            <a:ext cx="4709160" cy="566928"/>
          </a:xfrm>
          <a:prstGeom prst="roundRect">
            <a:avLst>
              <a:gd name="adj" fmla="val 12903"/>
            </a:avLst>
          </a:prstGeom>
          <a:solidFill>
            <a:srgbClr val="C1272D"/>
          </a:solidFill>
          <a:ln/>
        </p:spPr>
      </p:sp>
      <p:sp>
        <p:nvSpPr>
          <p:cNvPr id="33" name="Text 26"/>
          <p:cNvSpPr/>
          <p:nvPr/>
        </p:nvSpPr>
        <p:spPr>
          <a:xfrm>
            <a:off x="6766560" y="3566160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submitted   </a:t>
            </a:r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“Ohh no fire.”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766560" y="41696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· Priority 1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796528" y="4187952"/>
            <a:ext cx="274320" cy="320040"/>
          </a:xfrm>
          <a:prstGeom prst="downArrow">
            <a:avLst/>
          </a:prstGeom>
          <a:solidFill>
            <a:srgbClr val="F2A900"/>
          </a:solidFill>
          <a:ln/>
        </p:spPr>
      </p:sp>
      <p:sp>
        <p:nvSpPr>
          <p:cNvPr id="36" name="Shape 29"/>
          <p:cNvSpPr/>
          <p:nvPr/>
        </p:nvSpPr>
        <p:spPr>
          <a:xfrm>
            <a:off x="6583680" y="4709160"/>
            <a:ext cx="4709160" cy="822960"/>
          </a:xfrm>
          <a:prstGeom prst="roundRect">
            <a:avLst>
              <a:gd name="adj" fmla="val 8889"/>
            </a:avLst>
          </a:prstGeom>
          <a:solidFill>
            <a:srgbClr val="F2A900"/>
          </a:solidFill>
          <a:ln/>
        </p:spPr>
      </p:sp>
      <p:sp>
        <p:nvSpPr>
          <p:cNvPr id="37" name="Text 30"/>
          <p:cNvSpPr/>
          <p:nvPr/>
        </p:nvSpPr>
        <p:spPr>
          <a:xfrm>
            <a:off x="6766560" y="470916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FIRE is dispatched FIRST —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regardless of arrival order.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" name="Image 0" descr="/home/claude/pptx/icons/brain_1B2A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Integration: Designed, Not Bolted 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 architectural position on where AI belongs in a real-time pipeline.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43100" y="192024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8" name="Image 1" descr="/home/claude/pptx/icons/cog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665" y="209580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Rule-Based Triage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22960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disaster_ai.py performs deterministic keyword classification across FIRE, MEDICAL, ROAD, and NORMAL, directly driving priority assignment.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288536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82996" y="1920240"/>
            <a:ext cx="731520" cy="7315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13" name="Image 2" descr="/home/claude/pptx/icons/clo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561" y="209580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17136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Deterministic Here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4562856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 3.0's priority mailbox needs bounded, predictable latency. Variable-latency ML inference would introduce jitter into the real-time core.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028432" y="1600200"/>
            <a:ext cx="3520440" cy="39776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sx="100000" sy="100000" kx="0" ky="0" algn="bl" rotWithShape="0" blurRad="88900" dist="38100" dir="5400000">
              <a:srgbClr val="1B2A4A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422892" y="1920240"/>
            <a:ext cx="731520" cy="7315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8" name="Image 3" descr="/home/claude/pptx/icons/char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457" y="209580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57032" y="2834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AI-Informed Priority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8302752" y="36118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Near-term: confidence-scored ML classifier. Mid-term: continuous priority scale. Long-term: LLM-based severity &amp; urgency extraction.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belongs at the decision-input boundary — disaster_ai.py — not inside the real-time core.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pptx/icons/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Demonstrated Results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on real hardware, across all four categories.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8" name="Image 1" descr="/home/claude/pptx/icons/fir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19495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1810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20756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1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31520" y="2514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“Ohh no fire”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164592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429000" y="182880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4" name="Image 2" descr="/home/claude/pptx/icons/ambulanc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701" y="194950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69080" y="18105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069080" y="207568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2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429000" y="25146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“Person is injured”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1520" y="379476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/home/claude/pptx/icons/roa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1" y="39154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3776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371600" y="4041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3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31520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“Road is blocked”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246120" y="361188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29000" y="3794760"/>
            <a:ext cx="502920" cy="502920"/>
          </a:xfrm>
          <a:prstGeom prst="ellipse">
            <a:avLst/>
          </a:prstGeom>
          <a:solidFill>
            <a:srgbClr val="8A92A3"/>
          </a:solidFill>
          <a:ln/>
        </p:spPr>
      </p:sp>
      <p:pic>
        <p:nvPicPr>
          <p:cNvPr id="26" name="Image 4" descr="/home/claude/pptx/icons/bell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91546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7764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069080" y="40416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4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429000" y="44805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information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172200" y="1645920"/>
            <a:ext cx="5440680" cy="4343400"/>
          </a:xfrm>
          <a:prstGeom prst="roundRect">
            <a:avLst>
              <a:gd name="adj" fmla="val 2105"/>
            </a:avLst>
          </a:prstGeom>
          <a:solidFill>
            <a:srgbClr val="0F1B2E"/>
          </a:solidFill>
          <a:ln/>
        </p:spPr>
      </p:sp>
      <p:sp>
        <p:nvSpPr>
          <p:cNvPr id="31" name="Shape 24"/>
          <p:cNvSpPr/>
          <p:nvPr/>
        </p:nvSpPr>
        <p:spPr>
          <a:xfrm>
            <a:off x="6400800" y="1847088"/>
            <a:ext cx="128016" cy="128016"/>
          </a:xfrm>
          <a:prstGeom prst="ellipse">
            <a:avLst/>
          </a:prstGeom>
          <a:solidFill>
            <a:srgbClr val="C1272D"/>
          </a:solidFill>
          <a:ln/>
        </p:spPr>
      </p:sp>
      <p:sp>
        <p:nvSpPr>
          <p:cNvPr id="32" name="Shape 25"/>
          <p:cNvSpPr/>
          <p:nvPr/>
        </p:nvSpPr>
        <p:spPr>
          <a:xfrm>
            <a:off x="6592824" y="1847088"/>
            <a:ext cx="128016" cy="128016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3" name="Shape 26"/>
          <p:cNvSpPr/>
          <p:nvPr/>
        </p:nvSpPr>
        <p:spPr>
          <a:xfrm>
            <a:off x="6784848" y="1847088"/>
            <a:ext cx="128016" cy="128016"/>
          </a:xfrm>
          <a:prstGeom prst="ellipse">
            <a:avLst/>
          </a:prstGeom>
          <a:solidFill>
            <a:srgbClr val="3FBF5F"/>
          </a:solidFill>
          <a:ln/>
        </p:spPr>
      </p:sp>
      <p:sp>
        <p:nvSpPr>
          <p:cNvPr id="34" name="Text 27"/>
          <p:cNvSpPr/>
          <p:nvPr/>
        </p:nvSpPr>
        <p:spPr>
          <a:xfrm>
            <a:off x="7086600" y="1773936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 Term — FIRE demonstration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6492240" y="2240280"/>
            <a:ext cx="4800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 Disaster Ethernet frame: 60 bytes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Destination MAC: 00:11:22:33:44:55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MAC: 00:0E:09:86:93:93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EtherType: 0x0800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length: 46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FIRE detected!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Sending priority message: P=1, FIRE ALERT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RECEIVED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FBF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Priority : 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7E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 : FIRE ALERT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" name="Image 0" descr="/home/claude/pptx/icons/shiel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870" y="560710"/>
            <a:ext cx="323332" cy="3233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53312" y="365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Roadmap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353312" y="8412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prototype proves today, and where it goes next.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TODAY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2240280"/>
            <a:ext cx="347472" cy="347472"/>
          </a:xfrm>
          <a:prstGeom prst="ellipse">
            <a:avLst/>
          </a:prstGeom>
          <a:solidFill>
            <a:srgbClr val="E4F4E8"/>
          </a:solidFill>
          <a:ln/>
        </p:spPr>
      </p:sp>
      <p:pic>
        <p:nvPicPr>
          <p:cNvPr id="9" name="Image 1" descr="/home/claude/pptx/icons/check_2E8B4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73" y="2323673"/>
            <a:ext cx="180685" cy="180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53312" y="218541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pipeline verified on real hardware — phone to RTOS alert.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68680" y="3200400"/>
            <a:ext cx="347472" cy="347472"/>
          </a:xfrm>
          <a:prstGeom prst="ellipse">
            <a:avLst/>
          </a:prstGeom>
          <a:solidFill>
            <a:srgbClr val="E4F4E8"/>
          </a:solidFill>
          <a:ln/>
        </p:spPr>
      </p:sp>
      <p:pic>
        <p:nvPicPr>
          <p:cNvPr id="12" name="Image 2" descr="/home/claude/pptx/icons/check_2E8B4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3283793"/>
            <a:ext cx="180685" cy="18068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53312" y="314553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Internet-independent operation — no cloud dependency.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868680" y="4160520"/>
            <a:ext cx="347472" cy="347472"/>
          </a:xfrm>
          <a:prstGeom prst="ellipse">
            <a:avLst/>
          </a:prstGeom>
          <a:solidFill>
            <a:srgbClr val="E4F4E8"/>
          </a:solidFill>
          <a:ln/>
        </p:spPr>
      </p:sp>
      <p:pic>
        <p:nvPicPr>
          <p:cNvPr id="15" name="Image 3" descr="/home/claude/pptx/icons/check_2E8B4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243913"/>
            <a:ext cx="180685" cy="18068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53312" y="410565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preemptive priority dispatch, demonstrated under μT-Kernel 3.0.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868680" y="5120640"/>
            <a:ext cx="347472" cy="347472"/>
          </a:xfrm>
          <a:prstGeom prst="ellipse">
            <a:avLst/>
          </a:prstGeom>
          <a:solidFill>
            <a:srgbClr val="E4F4E8"/>
          </a:solidFill>
          <a:ln/>
        </p:spPr>
      </p:sp>
      <p:pic>
        <p:nvPicPr>
          <p:cNvPr id="18" name="Image 4" descr="/home/claude/pptx/icons/check_2E8B4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73" y="5204033"/>
            <a:ext cx="180685" cy="18068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53312" y="5065776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cleanly isolated in disaster_ai.py, ready for AI upgrade.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172200" y="1600200"/>
            <a:ext cx="5440680" cy="4526280"/>
          </a:xfrm>
          <a:prstGeom prst="roundRect">
            <a:avLst>
              <a:gd name="adj" fmla="val 2424"/>
            </a:avLst>
          </a:prstGeom>
          <a:solidFill>
            <a:srgbClr val="1B2A4A"/>
          </a:solidFill>
          <a:ln/>
        </p:spPr>
      </p:sp>
      <p:sp>
        <p:nvSpPr>
          <p:cNvPr id="21" name="Text 14"/>
          <p:cNvSpPr/>
          <p:nvPr/>
        </p:nvSpPr>
        <p:spPr>
          <a:xfrm>
            <a:off x="6492240" y="1828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IT'S HEADED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492240" y="2240280"/>
            <a:ext cx="347472" cy="347472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23" name="Image 5" descr="/home/claude/pptx/icons/bolt_F2A900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633" y="2323673"/>
            <a:ext cx="180685" cy="18068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76872" y="218541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AI-based, confidence-scored message classification.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6492240" y="3200400"/>
            <a:ext cx="347472" cy="347472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26" name="Image 6" descr="/home/claude/pptx/icons/bolt_F2A900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5633" y="3283793"/>
            <a:ext cx="180685" cy="180685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976872" y="314553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/ encrypted Ethernet transport for alert payloads.</a:t>
            </a:r>
            <a:endParaRPr lang="en-US" sz="1350" dirty="0"/>
          </a:p>
        </p:txBody>
      </p:sp>
      <p:sp>
        <p:nvSpPr>
          <p:cNvPr id="28" name="Shape 19"/>
          <p:cNvSpPr/>
          <p:nvPr/>
        </p:nvSpPr>
        <p:spPr>
          <a:xfrm>
            <a:off x="6492240" y="4160520"/>
            <a:ext cx="347472" cy="347472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29" name="Image 7" descr="/home/claude/pptx/icons/bolt_F2A90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5633" y="4243913"/>
            <a:ext cx="180685" cy="180685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976872" y="410565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under high-volume, concurrent disaster reports.</a:t>
            </a:r>
            <a:endParaRPr lang="en-US" sz="1350" dirty="0"/>
          </a:p>
        </p:txBody>
      </p:sp>
      <p:sp>
        <p:nvSpPr>
          <p:cNvPr id="31" name="Shape 21"/>
          <p:cNvSpPr/>
          <p:nvPr/>
        </p:nvSpPr>
        <p:spPr>
          <a:xfrm>
            <a:off x="6492240" y="5120640"/>
            <a:ext cx="347472" cy="347472"/>
          </a:xfrm>
          <a:prstGeom prst="ellipse">
            <a:avLst/>
          </a:prstGeom>
          <a:solidFill>
            <a:srgbClr val="27406B"/>
          </a:solidFill>
          <a:ln/>
        </p:spPr>
      </p:sp>
      <p:pic>
        <p:nvPicPr>
          <p:cNvPr id="32" name="Image 8" descr="/home/claude/pptx/icons/bolt_F2A900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5633" y="5204033"/>
            <a:ext cx="180685" cy="180685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6976872" y="5065776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Finer-grained, continuous priority scale beyond four fixed levels.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029200" cy="5029200"/>
          </a:xfrm>
          <a:prstGeom prst="ellipse">
            <a:avLst/>
          </a:prstGeom>
          <a:solidFill>
            <a:srgbClr val="233A6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572000" cy="4572000"/>
          </a:xfrm>
          <a:prstGeom prst="ellipse">
            <a:avLst/>
          </a:prstGeom>
          <a:solidFill>
            <a:srgbClr val="203355"/>
          </a:solidFill>
          <a:ln/>
        </p:spPr>
      </p:sp>
      <p:sp>
        <p:nvSpPr>
          <p:cNvPr id="4" name="Shape 2"/>
          <p:cNvSpPr/>
          <p:nvPr/>
        </p:nvSpPr>
        <p:spPr>
          <a:xfrm>
            <a:off x="5504688" y="1417320"/>
            <a:ext cx="1188720" cy="1188720"/>
          </a:xfrm>
          <a:prstGeom prst="ellipse">
            <a:avLst/>
          </a:prstGeom>
          <a:solidFill>
            <a:srgbClr val="C1272D"/>
          </a:solidFill>
          <a:ln/>
        </p:spPr>
      </p:sp>
      <p:pic>
        <p:nvPicPr>
          <p:cNvPr id="5" name="Image 0" descr="/home/claude/pptx/icons/fir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81" y="17026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3464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Disaster Communication &amp; Priority Handling System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41605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μT-Kernel 3.0   ·   Renesas EK-RA8P1   ·   TRON Programming Contest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2026-09-30T00:10:51Z</dcterms:created>
  <dcterms:modified xsi:type="dcterms:W3CDTF">2026-09-30T00:10:51Z</dcterms:modified>
</cp:coreProperties>
</file>